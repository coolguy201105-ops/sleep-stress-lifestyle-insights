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5F3FF"/>
                </a:solidFill>
                <a:latin typeface="Calibri"/>
              </a:rPr>
              <a:t>A Data-Driven Biomedical Research Project for the Irvine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Baseline machine learning models • Kaggle sleep &amp; lifestyle datasets • Interactive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5F3FF"/>
                </a:solidFill>
                <a:latin typeface="Calibri"/>
              </a:rPr>
              <a:t>github.com/coolguy201105-ops/sleep-stress-lifestyle-insights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Problem &amp; Community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Poor sleep and high stress</a:t>
            </a:r>
            <a:r>
              <a:rPr sz="1700">
                <a:solidFill>
                  <a:srgbClr val="1F2937"/>
                </a:solidFill>
                <a:latin typeface="Calibri"/>
              </a:rPr>
              <a:t>  are widespread concerns among students and families.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Consequences are real:</a:t>
            </a:r>
            <a:r>
              <a:rPr sz="1700">
                <a:solidFill>
                  <a:srgbClr val="1F2937"/>
                </a:solidFill>
                <a:latin typeface="Calibri"/>
              </a:rPr>
              <a:t>  reduced academic performance, weakened immune function, and long-term health risk.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No local Irvine dataset exists</a:t>
            </a:r>
            <a:r>
              <a:rPr sz="1700">
                <a:solidFill>
                  <a:srgbClr val="1F2937"/>
                </a:solidFill>
                <a:latin typeface="Calibri"/>
              </a:rPr>
              <a:t>  but national/international research shows the same risk factors likely apply here.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This project's goal:</a:t>
            </a:r>
            <a:r>
              <a:rPr sz="1700">
                <a:solidFill>
                  <a:srgbClr val="1F2937"/>
                </a:solidFill>
                <a:latin typeface="Calibri"/>
              </a:rPr>
              <a:t>  find which lifestyle and physiological factors most strongly relate to poor sleep and stress, and share the findings through an interactive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554480"/>
            <a:ext cx="4023360" cy="42062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3AED"/>
                </a:solidFill>
                <a:latin typeface="Calibri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286000"/>
            <a:ext cx="3566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How are sleep duration, sleep quality, and lifestyle factors (activity, caffeine, alcohol, exercise, BMI) associated with stress, sleep disorders, and sleep efficiency?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B5563"/>
                </a:solidFill>
                <a:latin typeface="Calibri"/>
              </a:rPr>
              <a:t>Five public Kaggle datasets reviewed — two used for modeling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46304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Used?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Provides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</a:rPr>
                        <a:t>Sleep Health &amp; Lifestyle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374 ×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✅ 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Sleep, stress, activity, BMI, vitals, disorder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</a:rPr>
                        <a:t>Sleep Efficiency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452 × 15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✅ Supporting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Sleep efficiency, sleep stages, awakenings, caffeine/alcohol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</a:rPr>
                        <a:t>Animal sleep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62 ×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❌ Excluded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Non-human species data — not 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</a:rPr>
                        <a:t>Wearable tech sleep quality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1,000 × 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❌ Not used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Simulated sensor data, no demographics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</a:rPr>
                        <a:t>Health Sleep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100 ×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❌ Not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Small sample, overlaps main dataset, no stress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9377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B5563"/>
                </a:solidFill>
                <a:latin typeface="Calibri"/>
              </a:rPr>
              <a:t>The two datasets used were analyzed separately — never merged row-by-row — since they were collected independently with different columns and sample sizes.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B5563"/>
                </a:solidFill>
                <a:latin typeface="Calibri"/>
              </a:rPr>
              <a:t>A 3-tier modeling approach for every target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1B6"/>
                </a:solidFill>
                <a:latin typeface="Calibri"/>
              </a:rPr>
              <a:t>1.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Remove duplicates, fix a hidden data-loading bug, convert timestamps to numeric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1B6"/>
                </a:solidFill>
                <a:latin typeface="Calibri"/>
              </a:rPr>
              <a:t>2. Exploratory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Visualize relationships — e.g., stress by sleep-duration group.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1B6"/>
                </a:solidFill>
                <a:latin typeface="Calibri"/>
              </a:rPr>
              <a:t>3. Predictive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8328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Train &amp; compare 3 models per target on an identical 75/25 train-test split.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1B6"/>
                </a:solidFill>
                <a:latin typeface="Calibri"/>
              </a:rPr>
              <a:t>4. 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4340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Rank Random Forest feature importances to find the strongest predictors.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21B6"/>
                </a:solidFill>
                <a:latin typeface="Calibri"/>
              </a:rPr>
              <a:t>5.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0352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Package everything into a public, interactive Streamlit web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Models, Compared Head-to-Head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3611880" cy="59436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Dummy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11880" cy="32918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246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Ignores every input. Predicts the average (or most common class).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Purpose: a sanity-check floor — nothing to beat, everything to compare against.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61188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Linear / Logistic Regression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48840"/>
            <a:ext cx="3611880" cy="32918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46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weighted sum of all features.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Purpose: the interpretable, explainable model — each feature gets one clear coefficient.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63040"/>
            <a:ext cx="3611880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63040"/>
            <a:ext cx="3611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148840"/>
            <a:ext cx="3611880" cy="32918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46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Hundreds of decision trees, averaged together.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Purpose: the best-effort model — captures non-linear effects and feature interactions.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B5563"/>
                </a:solidFill>
                <a:latin typeface="Calibri"/>
              </a:rPr>
              <a:t>Random Forest wins on every target — but by how much varies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2560320"/>
                <a:gridCol w="274320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Best Score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vs. Dummy Baseline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Stress Level (0–10)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R² = 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Error cut ~84%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Quality of Sleep (1–10)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R² = 0.94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Error cut ~89%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Sleep Disorder (3-class)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66.7%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+12 pts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Sleep Efficiency (0–1)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R² = 0.86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Error cut ~68%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Awakenings (count/night)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R² = 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Error cut ~39%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4663440"/>
            <a:ext cx="246888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73168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libri"/>
              </a:rPr>
              <a:t>0.94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Best R²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(Stress &amp; Sleep Quality)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663440"/>
            <a:ext cx="246888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773168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Calibri"/>
              </a:rPr>
              <a:t>66.7%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532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Best classification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663440"/>
            <a:ext cx="246888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73168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Calibri"/>
              </a:rPr>
              <a:t>5 of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532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Targets beat the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663440"/>
            <a:ext cx="246888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773168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7C3AED"/>
                </a:solidFill>
                <a:latin typeface="Calibri"/>
              </a:rPr>
              <a:t>132–452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532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Rows analyzed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per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Deep Dive: Stress &amp; Sleep Quality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Stress — MAE / R²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Sleep Quality — MAE / R²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Dummy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1.41 / 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1.04 / 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0.30 / 0.71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0.17 / 0.84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0.22 / 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0.12 / 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31920"/>
            <a:ext cx="6766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Both targets are strongly predictable — Random Forest's clear edge over Linear Regression suggests non-linear or interaction effects (e.g., stress may not scale evenly with sleep duration alone).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75488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A34A"/>
                </a:solidFill>
                <a:latin typeface="Calibri"/>
              </a:rPr>
              <a:t>Top Predictors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6A34A"/>
                </a:solidFill>
                <a:latin typeface="Calibri"/>
              </a:rPr>
              <a:t>●  Stress level:</a:t>
            </a:r>
            <a:r>
              <a:rPr sz="1400">
                <a:solidFill>
                  <a:srgbClr val="1F2937"/>
                </a:solidFill>
                <a:latin typeface="Calibri"/>
              </a:rPr>
              <a:t>  sleep quality, heart rate, sleep duration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6A34A"/>
                </a:solidFill>
                <a:latin typeface="Calibri"/>
              </a:rPr>
              <a:t>●  Sleep quality:</a:t>
            </a:r>
            <a:r>
              <a:rPr sz="1400">
                <a:solidFill>
                  <a:srgbClr val="1F2937"/>
                </a:solidFill>
                <a:latin typeface="Calibri"/>
              </a:rPr>
              <a:t>  sleep duration (dominant), stress level, heart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Deep Dive: Sleep Disorder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  <a:gridCol w="18288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Balanced Accuracy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Dummy ("always None")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54.5%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63.6%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60.4%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62.2%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31920"/>
            <a:ext cx="7223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A modest but real result: Random Forest beats the dummy baseline by ~12 points of accuracy and nearly 30 points of balanced accuracy. Still, 63–67% on a 3-class problem is an early signal, not a diagnostic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463040"/>
            <a:ext cx="3474720" cy="4754880"/>
          </a:xfrm>
          <a:prstGeom prst="rect">
            <a:avLst/>
          </a:prstGeom>
          <a:solidFill>
            <a:srgbClr val="F5F3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Calibri"/>
              </a:rPr>
              <a:t>Data-Cleaning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9456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An earlier version misread the text "None" as a missing value, silently dropping 219 of 374 rows and inflating classification accuracy. Fixed by disabling pandas' default NA behavior — numbers shown here are corrected.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Deep Dive: Sleep Efficiency &amp; Awakenings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Efficiency — MAE / R²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Awakenings — MAE / R²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Dummy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0.120 / 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1.20 / ~0.00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0.050 / 0.80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0.80 / 0.46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0.038 / 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</a:rPr>
                        <a:t>0.73 / 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31920"/>
            <a:ext cx="6766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Awakenings is the hardest target (R² 0.58 at best) — likely because important drivers like noise, room temperature, or undiagnosed conditions aren't captured in this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75488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Interesting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5661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Sleep-structure metrics (light/deep sleep %, prior awakenings) drove these predictions more than lifestyle habits. Caffeine, alcohol, and smoking mattered less than expected in this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Community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7C3AED"/>
                </a:solidFill>
                <a:latin typeface="Calibri"/>
              </a:rPr>
              <a:t>●  Sleep duration &amp; quality are the biggest levers</a:t>
            </a:r>
            <a:r>
              <a:rPr sz="1800">
                <a:solidFill>
                  <a:srgbClr val="1F2937"/>
                </a:solidFill>
                <a:latin typeface="Calibri"/>
              </a:rPr>
              <a:t>  for lower stress in this data — more consistent, higher-quality sleep is linked to meaningfully lower stress.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7C3AED"/>
                </a:solidFill>
                <a:latin typeface="Calibri"/>
              </a:rPr>
              <a:t>●  Sleep disorder risk is hard to flag from lifestyle data alone</a:t>
            </a:r>
            <a:r>
              <a:rPr sz="1800">
                <a:solidFill>
                  <a:srgbClr val="1F2937"/>
                </a:solidFill>
                <a:latin typeface="Calibri"/>
              </a:rPr>
              <a:t>  (mid-60% accuracy) — a promising early signal, not a substitute for clinical screening.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7C3AED"/>
                </a:solidFill>
                <a:latin typeface="Calibri"/>
              </a:rPr>
              <a:t>●  Sleep efficiency problems may need different interventions</a:t>
            </a:r>
            <a:r>
              <a:rPr sz="1800">
                <a:solidFill>
                  <a:srgbClr val="1F2937"/>
                </a:solidFill>
                <a:latin typeface="Calibri"/>
              </a:rPr>
              <a:t>  than simple lifestyle changes, since caffeine/alcohol/exercise had smaller effects than expected.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7C3AED"/>
                </a:solidFill>
                <a:latin typeface="Calibri"/>
              </a:rPr>
              <a:t>●  All results are associations, not causation</a:t>
            </a:r>
            <a:r>
              <a:rPr sz="1800">
                <a:solidFill>
                  <a:srgbClr val="1F2937"/>
                </a:solidFill>
                <a:latin typeface="Calibri"/>
              </a:rPr>
              <a:t>  — this is observational data, and the app/tool is educational only, not medical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Try It Yourself: The Interactive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16A34A"/>
                </a:solidFill>
                <a:latin typeface="Calibri"/>
              </a:rPr>
              <a:t>●  Overview</a:t>
            </a:r>
            <a:r>
              <a:rPr sz="1700">
                <a:solidFill>
                  <a:srgbClr val="1F2937"/>
                </a:solidFill>
                <a:latin typeface="Calibri"/>
              </a:rPr>
              <a:t>  project intro and dataset summary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16A34A"/>
                </a:solidFill>
                <a:latin typeface="Calibri"/>
              </a:rPr>
              <a:t>●  Explore the Data</a:t>
            </a:r>
            <a:r>
              <a:rPr sz="1700">
                <a:solidFill>
                  <a:srgbClr val="1F2937"/>
                </a:solidFill>
                <a:latin typeface="Calibri"/>
              </a:rPr>
              <a:t>  interactive charts for both datasets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16A34A"/>
                </a:solidFill>
                <a:latin typeface="Calibri"/>
              </a:rPr>
              <a:t>●  Model Performance</a:t>
            </a:r>
            <a:r>
              <a:rPr sz="1700">
                <a:solidFill>
                  <a:srgbClr val="1F2937"/>
                </a:solidFill>
                <a:latin typeface="Calibri"/>
              </a:rPr>
              <a:t>  live comparisons of all 3 model types for all 5 targets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16A34A"/>
                </a:solidFill>
                <a:latin typeface="Calibri"/>
              </a:rPr>
              <a:t>●  Try the Predictor</a:t>
            </a:r>
            <a:r>
              <a:rPr sz="1700">
                <a:solidFill>
                  <a:srgbClr val="1F2937"/>
                </a:solidFill>
                <a:latin typeface="Calibri"/>
              </a:rPr>
              <a:t>  enter your own stats, get real-time predictions with plain-language feedback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700">
                <a:solidFill>
                  <a:srgbClr val="16A34A"/>
                </a:solidFill>
                <a:latin typeface="Calibri"/>
              </a:rPr>
              <a:t>●  Full Report</a:t>
            </a:r>
            <a:r>
              <a:rPr sz="1700">
                <a:solidFill>
                  <a:srgbClr val="1F2937"/>
                </a:solidFill>
                <a:latin typeface="Calibri"/>
              </a:rPr>
              <a:t>  the complete methodology and results,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554480"/>
            <a:ext cx="4023360" cy="4206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8288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Live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37744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sleep-stress-lifestyle-insights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65760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5F3FF"/>
                </a:solidFill>
                <a:latin typeface="Calibri"/>
              </a:rPr>
              <a:t>(replace with your exact deployed link if different)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Limitations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DC2626"/>
                </a:solidFill>
                <a:latin typeface="Calibri"/>
              </a:rPr>
              <a:t>●  Not local data</a:t>
            </a:r>
            <a:r>
              <a:rPr sz="1800">
                <a:solidFill>
                  <a:srgbClr val="1F2937"/>
                </a:solidFill>
                <a:latin typeface="Calibri"/>
              </a:rPr>
              <a:t>  datasets are public and not collected in Irvine — findings represent general patterns, not verified local statistics.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DC2626"/>
                </a:solidFill>
                <a:latin typeface="Calibri"/>
              </a:rPr>
              <a:t>●  Association, not causation</a:t>
            </a:r>
            <a:r>
              <a:rPr sz="1800">
                <a:solidFill>
                  <a:srgbClr val="1F2937"/>
                </a:solidFill>
                <a:latin typeface="Calibri"/>
              </a:rPr>
              <a:t>  all datasets are observational; results describe correlations, not proof of cause and effect.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DC2626"/>
                </a:solidFill>
                <a:latin typeface="Calibri"/>
              </a:rPr>
              <a:t>●  Smaller effective sample</a:t>
            </a:r>
            <a:r>
              <a:rPr sz="1800">
                <a:solidFill>
                  <a:srgbClr val="1F2937"/>
                </a:solidFill>
                <a:latin typeface="Calibri"/>
              </a:rPr>
              <a:t>  the main lifestyle dataset shrank from 374 to 132 unique rows after removing exact duplicates.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b="1" sz="1800">
                <a:solidFill>
                  <a:srgbClr val="DC2626"/>
                </a:solidFill>
                <a:latin typeface="Calibri"/>
              </a:rPr>
              <a:t>●  Educational tool only</a:t>
            </a:r>
            <a:r>
              <a:rPr sz="1800">
                <a:solidFill>
                  <a:srgbClr val="1F2937"/>
                </a:solidFill>
                <a:latin typeface="Calibri"/>
              </a:rPr>
              <a:t>  this project and its predictor are not a diagnostic or medical device, and do not replace professional medical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F2937"/>
                </a:solidFill>
                <a:latin typeface="Calibri"/>
              </a:rPr>
              <a:t>Everyday, self-reported lifestyle and physiological factors — especially sleep duration and quality — carry a strong, measurable relationship with stress and sleep health outcomes in this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Validate</a:t>
            </a:r>
            <a:r>
              <a:rPr sz="1700">
                <a:solidFill>
                  <a:srgbClr val="1F2937"/>
                </a:solidFill>
                <a:latin typeface="Calibri"/>
              </a:rPr>
              <a:t>  these patterns against a larger or local sample if one becomes available.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Extend</a:t>
            </a:r>
            <a:r>
              <a:rPr sz="1700">
                <a:solidFill>
                  <a:srgbClr val="1F2937"/>
                </a:solidFill>
                <a:latin typeface="Calibri"/>
              </a:rPr>
              <a:t>  the wearable-sensor dataset into modeling once paired with real demographic data.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700">
                <a:solidFill>
                  <a:srgbClr val="7C3AED"/>
                </a:solidFill>
                <a:latin typeface="Calibri"/>
              </a:rPr>
              <a:t>●  Translate</a:t>
            </a:r>
            <a:r>
              <a:rPr sz="1700">
                <a:solidFill>
                  <a:srgbClr val="1F2937"/>
                </a:solidFill>
                <a:latin typeface="Calibri"/>
              </a:rPr>
              <a:t>  the strongest, most actionable findings into a one-page community handout for Irvine students and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Sleep, Stress &amp; Lifestyle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F5F3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5F3FF"/>
                </a:solidFill>
                <a:latin typeface="Calibri"/>
              </a:rPr>
              <a:t>github.com/coolguy201105-ops/sleep-stress-lifestyle-insights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